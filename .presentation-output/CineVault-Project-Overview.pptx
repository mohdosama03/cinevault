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dd172b859d4d97" /><Relationship Type="http://schemas.openxmlformats.org/officeDocument/2006/relationships/extended-properties" Target="/docProps/app.xml" Id="Rfd80a38afbf34237" /><Relationship Type="http://schemas.openxmlformats.org/officeDocument/2006/relationships/officeDocument" Target="/ppt/presentation.xml" Id="R988c8f867b4347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5996c3ac364f8d"/>
  </p:sldMasterIdLst>
  <p:notesMasterIdLst>
    <p:notesMasterId xmlns:r="http://schemas.openxmlformats.org/officeDocument/2006/relationships" r:id="R64cd88ce3bf64a38"/>
  </p:notesMasterIdLst>
  <p:sldIdLst>
    <p:sldId xmlns:r="http://schemas.openxmlformats.org/officeDocument/2006/relationships" id="256" r:id="R13c7b891822c4704"/>
    <p:sldId xmlns:r="http://schemas.openxmlformats.org/officeDocument/2006/relationships" id="257" r:id="R2f0a6ea224b7471c"/>
    <p:sldId xmlns:r="http://schemas.openxmlformats.org/officeDocument/2006/relationships" id="258" r:id="Rb909d0aa5c0e40ac"/>
    <p:sldId xmlns:r="http://schemas.openxmlformats.org/officeDocument/2006/relationships" id="259" r:id="R37f6c91edb29436f"/>
    <p:sldId xmlns:r="http://schemas.openxmlformats.org/officeDocument/2006/relationships" id="260" r:id="R4301dbda39404da9"/>
    <p:sldId xmlns:r="http://schemas.openxmlformats.org/officeDocument/2006/relationships" id="261" r:id="R836efd0c87c84ce9"/>
    <p:sldId xmlns:r="http://schemas.openxmlformats.org/officeDocument/2006/relationships" id="262" r:id="R8b27532da6684470"/>
    <p:sldId xmlns:r="http://schemas.openxmlformats.org/officeDocument/2006/relationships" id="263" r:id="R32507e93ca2946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6afca08e0d4e1d" /><Relationship Type="http://schemas.openxmlformats.org/officeDocument/2006/relationships/slideMaster" Target="/ppt/slideMasters/slideMaster1.xml" Id="R215996c3ac364f8d" /><Relationship Type="http://schemas.openxmlformats.org/officeDocument/2006/relationships/notesMaster" Target="/ppt/notesMasters/notesMaster1.xml" Id="R64cd88ce3bf64a38" /><Relationship Type="http://schemas.openxmlformats.org/officeDocument/2006/relationships/presProps" Target="/ppt/presProps.xml" Id="Rdeaea75a18ee4016" /><Relationship Type="http://schemas.openxmlformats.org/officeDocument/2006/relationships/tableStyles" Target="/ppt/tableStyles.xml" Id="Rff27247a95594412" /><Relationship Type="http://schemas.openxmlformats.org/officeDocument/2006/relationships/slide" Target="/ppt/slides/slide1.xml" Id="R13c7b891822c4704" /><Relationship Type="http://schemas.openxmlformats.org/officeDocument/2006/relationships/slide" Target="/ppt/slides/slide2.xml" Id="R2f0a6ea224b7471c" /><Relationship Type="http://schemas.openxmlformats.org/officeDocument/2006/relationships/slide" Target="/ppt/slides/slide3.xml" Id="Rb909d0aa5c0e40ac" /><Relationship Type="http://schemas.openxmlformats.org/officeDocument/2006/relationships/slide" Target="/ppt/slides/slide4.xml" Id="R37f6c91edb29436f" /><Relationship Type="http://schemas.openxmlformats.org/officeDocument/2006/relationships/slide" Target="/ppt/slides/slide5.xml" Id="R4301dbda39404da9" /><Relationship Type="http://schemas.openxmlformats.org/officeDocument/2006/relationships/slide" Target="/ppt/slides/slide6.xml" Id="R836efd0c87c84ce9" /><Relationship Type="http://schemas.openxmlformats.org/officeDocument/2006/relationships/slide" Target="/ppt/slides/slide7.xml" Id="R8b27532da6684470" /><Relationship Type="http://schemas.openxmlformats.org/officeDocument/2006/relationships/slide" Target="/ppt/slides/slide8.xml" Id="R32507e93ca2946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4d812ea9dd44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974358e1794dbb" /><Relationship Type="http://schemas.openxmlformats.org/officeDocument/2006/relationships/notesMaster" Target="/ppt/notesMasters/notesMaster1.xml" Id="R2636b96a35f942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0043f6a97d4a87" /><Relationship Type="http://schemas.openxmlformats.org/officeDocument/2006/relationships/notesMaster" Target="/ppt/notesMasters/notesMaster1.xml" Id="Rab05b10ff3d144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ee2d3e9c7c497d" /><Relationship Type="http://schemas.openxmlformats.org/officeDocument/2006/relationships/notesMaster" Target="/ppt/notesMasters/notesMaster1.xml" Id="R70deee07020a4c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02a85b17fa47f6" /><Relationship Type="http://schemas.openxmlformats.org/officeDocument/2006/relationships/notesMaster" Target="/ppt/notesMasters/notesMaster1.xml" Id="Rd0a1e2dab89b48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f5acb5eb374e61" /><Relationship Type="http://schemas.openxmlformats.org/officeDocument/2006/relationships/notesMaster" Target="/ppt/notesMasters/notesMaster1.xml" Id="Rcecc8356dae84e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7930e017184e47" /><Relationship Type="http://schemas.openxmlformats.org/officeDocument/2006/relationships/notesMaster" Target="/ppt/notesMasters/notesMaster1.xml" Id="Rf5ea295493234a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05d47243b749c9" /><Relationship Type="http://schemas.openxmlformats.org/officeDocument/2006/relationships/notesMaster" Target="/ppt/notesMasters/notesMaster1.xml" Id="Rd718c382f62b4a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a54a2be76a471f" /><Relationship Type="http://schemas.openxmlformats.org/officeDocument/2006/relationships/notesMaster" Target="/ppt/notesMasters/notesMaster1.xml" Id="R9efaaf5bc4504b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CineVault as a front-end cinema booking prototype. The auditorium image is generated for this presentation and is not a photograph of a specific CineVault 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project is a React user interface with a client-side booking flow. It does not connect to a cinema inventory service or payment processor.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journey from the home/catalog screens through ticket generation. Seat selections and snack quantities are held in React state while the user moves through the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code calls OMDb, not IMDb directly. Built-in movie data is in src/data/initialMovies.js; search and detail fetch logic is in src/services/movieApi.js. An API key is stored client-side, which is appropriate only for a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Seat availability, showtimes, cinema identity, and prices are hard-coded sample data. They do not update from a live theater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PaymentView does not contact a payment gateway. TicketView generates a deterministic visual QR-like grid from the booking ID, not a standards-compliant QR code. Saved bookings use the cv_bookings localStorage key.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 entry point is src/main.jsx and Vite serves it on port 3000. The project also contains legacy_backup/ with a prior standalone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explaining the current scope accurately. The prototype demonstrates the journey and interface. A real service would need trusted backend systems for inventory, payments, persisted orders, and ticket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ce4c853c6a42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7eea23f7024d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ace603415b42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e3274d83d41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28388258144c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2ddd5a2bfd45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ECF465-27EA-48E9-AF2B-C6101C6E27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B11524-AD2E-4F76-911F-D76CF18615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7B6ACB-25FD-4250-95E3-64C5D9C3B4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2D935A-7807-41E1-A4C6-011CC8F7F9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F507C9-2C25-490E-982C-0476119F0F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49D1CB-70A9-49F4-9DF0-B4A1C40379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40EA4C-49BD-4D7E-A836-B48A53EF9E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52AD522-91E1-45AA-8690-1B8BFB8889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7ABA42-F210-4532-BC1E-C32AC1EC88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735572-CB23-41CE-9F95-79EE5A507E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58df4e910242b3" /><Relationship Type="http://schemas.openxmlformats.org/officeDocument/2006/relationships/slideLayout" Target="/ppt/slideLayouts/slideLayout1.xml" Id="R9cd4085936d84382" /><Relationship Type="http://schemas.openxmlformats.org/officeDocument/2006/relationships/slideLayout" Target="/ppt/slideLayouts/slideLayout2.xml" Id="Re0727ed2d55f4e8a" /><Relationship Type="http://schemas.openxmlformats.org/officeDocument/2006/relationships/slideLayout" Target="/ppt/slideLayouts/slideLayout3.xml" Id="Rc946a8bbcfdb4452" /><Relationship Type="http://schemas.openxmlformats.org/officeDocument/2006/relationships/slideLayout" Target="/ppt/slideLayouts/slideLayout4.xml" Id="Ra12d364596c24590" /><Relationship Type="http://schemas.openxmlformats.org/officeDocument/2006/relationships/slideLayout" Target="/ppt/slideLayouts/slideLayout5.xml" Id="R8bfd5bff94fc421c" /><Relationship Type="http://schemas.openxmlformats.org/officeDocument/2006/relationships/slideLayout" Target="/ppt/slideLayouts/slideLayout6.xml" Id="R21c77d44229242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d4085936d84382"/>
    <p:sldLayoutId xmlns:r="http://schemas.openxmlformats.org/officeDocument/2006/relationships" id="2147483650" r:id="Re0727ed2d55f4e8a"/>
    <p:sldLayoutId xmlns:r="http://schemas.openxmlformats.org/officeDocument/2006/relationships" id="2147483651" r:id="Rc946a8bbcfdb4452"/>
    <p:sldLayoutId xmlns:r="http://schemas.openxmlformats.org/officeDocument/2006/relationships" id="2147483652" r:id="Ra12d364596c24590"/>
    <p:sldLayoutId xmlns:r="http://schemas.openxmlformats.org/officeDocument/2006/relationships" id="2147483653" r:id="R8bfd5bff94fc421c"/>
    <p:sldLayoutId xmlns:r="http://schemas.openxmlformats.org/officeDocument/2006/relationships" id="2147483654" r:id="R21c77d44229242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49838bcd334215" /><Relationship Type="http://schemas.openxmlformats.org/officeDocument/2006/relationships/image" Target="/ppt/media/image.png" Id="Rd0ac606afcc44c83" /><Relationship Type="http://schemas.openxmlformats.org/officeDocument/2006/relationships/notesSlide" Target="/ppt/notesSlides/notesSlide1.xml" Id="Rc00ad612c04249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10145a8ef14f4d" /><Relationship Type="http://schemas.openxmlformats.org/officeDocument/2006/relationships/notesSlide" Target="/ppt/notesSlides/notesSlide2.xml" Id="R065bb5fe652d4f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b32e0998c547ff" /><Relationship Type="http://schemas.openxmlformats.org/officeDocument/2006/relationships/notesSlide" Target="/ppt/notesSlides/notesSlide3.xml" Id="R8e93ce3a518a44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0099f57338419a" /><Relationship Type="http://schemas.openxmlformats.org/officeDocument/2006/relationships/notesSlide" Target="/ppt/notesSlides/notesSlide4.xml" Id="R6995270f0a6b49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ccc6575a247cd" /><Relationship Type="http://schemas.openxmlformats.org/officeDocument/2006/relationships/notesSlide" Target="/ppt/notesSlides/notesSlide5.xml" Id="Rc7a834ad51f54c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04c4ffd8cb4007" /><Relationship Type="http://schemas.openxmlformats.org/officeDocument/2006/relationships/notesSlide" Target="/ppt/notesSlides/notesSlide6.xml" Id="R6b69b42a699b47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94093ec8c24f16" /><Relationship Type="http://schemas.openxmlformats.org/officeDocument/2006/relationships/notesSlide" Target="/ppt/notesSlides/notesSlide7.xml" Id="R693d2895c2f342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43d585ca2343b0" /><Relationship Type="http://schemas.openxmlformats.org/officeDocument/2006/relationships/notesSlide" Target="/ppt/notesSlides/notesSlide8.xml" Id="R18ddb76aaf8143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68F77-1B99-4556-8050-9F04C82404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c606afcc44c8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E6585-628A-4977-87A8-7B98F770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62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ADA04-975D-4572-B01F-DAA4AF89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001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D6B66A"/>
                </a:solidFill>
              </a:defRPr>
            </a:pPr>
            <a:r>
              <a:rPr sz="1275" b="1" i="0">
                <a:solidFill>
                  <a:srgbClr val="D6B66A"/>
                </a:solidFill>
              </a:rPr>
              <a:t>CINEVAULT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420BE-32D9-4C65-891F-24659E70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7334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4050" b="1" i="0">
                <a:solidFill>
                  <a:srgbClr val="F6F2EC"/>
                </a:solidFill>
              </a:defRPr>
            </a:pPr>
            <a:r>
              <a:rPr sz="4050" b="1" i="0">
                <a:solidFill>
                  <a:srgbClr val="F6F2EC"/>
                </a:solidFill>
              </a:rPr>
              <a:t>A cinema booking</a:t>
            </a:r>
          </a:p>
          <a:p xmlns:a="http://schemas.openxmlformats.org/drawingml/2006/main">
            <a:pPr algn="l">
              <a:defRPr sz="4050" b="1" i="0">
                <a:solidFill>
                  <a:srgbClr val="F6F2EC"/>
                </a:solidFill>
              </a:defRPr>
            </a:pPr>
            <a:r>
              <a:rPr sz="4050" b="1" i="0">
                <a:solidFill>
                  <a:srgbClr val="F6F2EC"/>
                </a:solidFill>
              </a:rPr>
              <a:t>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54C88-44A5-4C06-81FA-AF912BCF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 i="0">
                <a:solidFill>
                  <a:srgbClr val="E3DED8"/>
                </a:solidFill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E3DED8"/>
                </a:solidFill>
              </a:defRPr>
            </a:pPr>
            <a:r>
              <a:rPr sz="1800" b="0" i="0">
                <a:solidFill>
                  <a:srgbClr val="E3DED8"/>
                </a:solidFill>
              </a:rPr>
              <a:t>Project overview and feature tour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3D328-B867-42D1-A2BF-AEF7DD88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1162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7FA62-A231-4442-9A0F-B245F943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 i="0">
                <a:solidFill>
                  <a:srgbClr val="D0CBC4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D0CBC4"/>
                </a:solidFill>
              </a:defRPr>
            </a:pPr>
            <a:r>
              <a:rPr sz="1350" b="0" i="0">
                <a:solidFill>
                  <a:srgbClr val="D0CBC4"/>
                </a:solidFill>
              </a:rPr>
              <a:t>React  ·  Vite  ·  OMDb movie search</a:t>
            </a:r>
          </a:p>
        </p:txBody>
      </p:sp>
    </p:spTree>
    <p:extLst>
      <p:ext uri="{BB962C8B-B14F-4D97-AF65-F5344CB8AC3E}">
        <p14:creationId xmlns:p14="http://schemas.microsoft.com/office/powerpoint/2010/main" val="1120971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6A8D4-9C8D-4A7C-91EF-34A8FE22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D6B66A"/>
                </a:solidFill>
              </a:defRPr>
            </a:pPr>
            <a:r>
              <a:rPr sz="1050" b="1" i="0">
                <a:solidFill>
                  <a:srgbClr val="D6B66A"/>
                </a:solidFill>
              </a:rPr>
              <a:t>CINEVAULT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9547C-CDCA-4A9B-ABCC-7C879F4B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6F2EC"/>
                </a:solidFill>
              </a:defRPr>
            </a:pPr>
            <a:r>
              <a:rPr sz="2700" b="1" i="0">
                <a:solidFill>
                  <a:srgbClr val="F6F2EC"/>
                </a:solidFill>
              </a:rPr>
              <a:t>A movie booking experience in one web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5186F-50AB-48A0-8EEF-510DD96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DDA2E-CA11-4B48-9BE3-3EB36924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AAA5A0"/>
                </a:solidFill>
              </a:defRPr>
            </a:pPr>
            <a:r>
              <a:rPr sz="900" b="0" i="0">
                <a:solidFill>
                  <a:srgbClr val="AAA5A0"/>
                </a:solidFill>
              </a:rPr>
              <a:t>CineVault  |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0EC29-43AE-48A9-B71D-D2FE5E58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F6F2EC"/>
                </a:solidFill>
              </a:defRPr>
            </a:pPr>
            <a:r>
              <a:rPr sz="2175" b="1" i="0">
                <a:solidFill>
                  <a:srgbClr val="F6F2EC"/>
                </a:solidFill>
              </a:rPr>
              <a:t>CineVault brings the cinema visit into a single guided 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35D43-E72D-42C2-AE33-B3423730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 i="0">
                <a:solidFill>
                  <a:srgbClr val="D6D1CB"/>
                </a:solidFill>
              </a:defRPr>
            </a:defPPr>
          </a:lstStyle>
          <a:p xmlns:a="http://schemas.openxmlformats.org/drawingml/2006/main">
            <a:pPr algn="l">
              <a:defRPr sz="1725" b="0" i="0">
                <a:solidFill>
                  <a:srgbClr val="D6D1CB"/>
                </a:solidFill>
              </a:defRPr>
            </a:pPr>
            <a:r>
              <a:rPr sz="1725" b="0" i="0">
                <a:solidFill>
                  <a:srgbClr val="D6D1CB"/>
                </a:solidFill>
              </a:rPr>
              <a:t>People can discover films, choose a showtime, select seats, add concessions, and receive a digital ticket.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02DC4-4990-4C55-8F51-197DC388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5B5D4-D9F9-4DD3-A044-928E85AC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D6B66A"/>
                </a:solidFill>
              </a:defRPr>
            </a:pPr>
            <a:r>
              <a:rPr sz="1050" b="1" i="0">
                <a:solidFill>
                  <a:srgbClr val="D6B66A"/>
                </a:solidFill>
              </a:rPr>
              <a:t>PRODUCT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5D897-64A4-4982-962B-346FD596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F6F2EC"/>
                </a:solidFill>
              </a:defRPr>
            </a:pPr>
            <a:r>
              <a:rPr sz="1800" b="1" i="0">
                <a:solidFill>
                  <a:srgbClr val="F6F2EC"/>
                </a:solidFill>
              </a:rPr>
              <a:t>Responsive cinema booking prototype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7929A-4048-408B-B19B-4C2E4DAF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D6B66A"/>
                </a:solidFill>
              </a:defRPr>
            </a:pPr>
            <a:r>
              <a:rPr sz="1050" b="1" i="0">
                <a:solidFill>
                  <a:srgbClr val="D6B66A"/>
                </a:solidFill>
              </a:rPr>
              <a:t>AUDIENCE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A074C-2CC3-4175-9AA9-AE8C1AF4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96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F6F2EC"/>
                </a:solidFill>
              </a:defRPr>
            </a:pPr>
            <a:r>
              <a:rPr sz="1800" b="1" i="0">
                <a:solidFill>
                  <a:srgbClr val="F6F2EC"/>
                </a:solidFill>
              </a:rPr>
              <a:t>Moviegoers exploring a theater visit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EE831-C405-4E42-8A8D-EEA286AE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6257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AAA5A0"/>
                </a:solidFill>
              </a:defRPr>
            </a:pPr>
            <a:r>
              <a:rPr sz="1350" b="0" i="0">
                <a:solidFill>
                  <a:srgbClr val="AAA5A0"/>
                </a:solidFill>
              </a:rPr>
              <a:t>Built as a polished front-end demonstration. Booking and payment data stay in the browser.</a:t>
            </a:r>
          </a:p>
        </p:txBody>
      </p:sp>
    </p:spTree>
    <p:extLst>
      <p:ext uri="{BB962C8B-B14F-4D97-AF65-F5344CB8AC3E}">
        <p14:creationId xmlns:p14="http://schemas.microsoft.com/office/powerpoint/2010/main" val="125745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66FA43-4990-4F93-8153-43F6EEDB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D6B66A"/>
                </a:solidFill>
              </a:defRPr>
            </a:pPr>
            <a:r>
              <a:rPr sz="1050" b="1" i="0">
                <a:solidFill>
                  <a:srgbClr val="D6B66A"/>
                </a:solidFill>
              </a:rPr>
              <a:t>CINEVAULT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DB54B-1635-4D9B-9DB7-E4DA96E1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6F2EC"/>
                </a:solidFill>
              </a:defRPr>
            </a:pPr>
            <a:r>
              <a:rPr sz="2700" b="1" i="0">
                <a:solidFill>
                  <a:srgbClr val="F6F2EC"/>
                </a:solidFill>
              </a:rPr>
              <a:t>The booking flow has five clear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3B5FF-2B0C-400F-B292-D2D1A0DE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12A8D-5A74-4310-877F-ECBC9055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AAA5A0"/>
                </a:solidFill>
              </a:defRPr>
            </a:pPr>
            <a:r>
              <a:rPr sz="900" b="0" i="0">
                <a:solidFill>
                  <a:srgbClr val="AAA5A0"/>
                </a:solidFill>
              </a:rPr>
              <a:t>CineVault  |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7F93E-D772-4083-A7F7-38903F7E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 i="0">
                <a:solidFill>
                  <a:srgbClr val="D92D32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D92D32"/>
                </a:solidFill>
              </a:defRPr>
            </a:pPr>
            <a:r>
              <a:rPr sz="2250" b="1" i="0">
                <a:solidFill>
                  <a:srgbClr val="D92D3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D903E-AB96-4454-8451-1DA8ECAA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D6B66A"/>
                </a:solidFill>
              </a:defRPr>
            </a:pPr>
            <a:r>
              <a:rPr sz="1200" b="1" i="0">
                <a:solidFill>
                  <a:srgbClr val="D6B66A"/>
                </a:solidFill>
              </a:rPr>
              <a:t>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D0B2A-6844-49C4-9DFA-BCA3FE9D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1752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6F2EC"/>
                </a:solidFill>
              </a:defRPr>
            </a:pPr>
            <a:r>
              <a:rPr sz="1500" b="1" i="0">
                <a:solidFill>
                  <a:srgbClr val="F6F2EC"/>
                </a:solidFill>
              </a:rPr>
              <a:t>Browse the catalog or search movies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FBD51-63EE-4A72-A20A-F57FF0C1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C3FF6-E7E3-43FB-8A7F-AA1545E0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 i="0">
                <a:solidFill>
                  <a:srgbClr val="D92D32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D92D32"/>
                </a:solidFill>
              </a:defRPr>
            </a:pPr>
            <a:r>
              <a:rPr sz="2250" b="1" i="0">
                <a:solidFill>
                  <a:srgbClr val="D92D3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926CD-D229-49CC-8757-04D88F27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D6B66A"/>
                </a:solidFill>
              </a:defRPr>
            </a:pPr>
            <a:r>
              <a:rPr sz="1200" b="1" i="0">
                <a:solidFill>
                  <a:srgbClr val="D6B66A"/>
                </a:solidFill>
              </a:rPr>
              <a:t>CHOOSE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C5B32-CE58-4EF4-B30E-B3B509A2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19450"/>
            <a:ext cx="1752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6F2EC"/>
                </a:solidFill>
              </a:defRPr>
            </a:pPr>
            <a:r>
              <a:rPr sz="1500" b="1" i="0">
                <a:solidFill>
                  <a:srgbClr val="F6F2EC"/>
                </a:solidFill>
              </a:rPr>
              <a:t>Open a film and pick a showtime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9CD3F-70D5-46AD-AAD7-680DF7D5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339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3CFAB-1CEC-4802-96D8-C74C2083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43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 i="0">
                <a:solidFill>
                  <a:srgbClr val="D92D32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D92D32"/>
                </a:solidFill>
              </a:defRPr>
            </a:pPr>
            <a:r>
              <a:rPr sz="2250" b="1" i="0">
                <a:solidFill>
                  <a:srgbClr val="D92D3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3CACB9-B9FC-44C9-A3E4-073975A8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D6B66A"/>
                </a:solidFill>
              </a:defRPr>
            </a:pPr>
            <a:r>
              <a:rPr sz="1200" b="1" i="0">
                <a:solidFill>
                  <a:srgbClr val="D6B66A"/>
                </a:solidFill>
              </a:rPr>
              <a:t>RESERVE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4BEEC-3B76-4EFE-892E-F73F2DD3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19450"/>
            <a:ext cx="1752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6F2EC"/>
                </a:solidFill>
              </a:defRPr>
            </a:pPr>
            <a:r>
              <a:rPr sz="1500" b="1" i="0">
                <a:solidFill>
                  <a:srgbClr val="F6F2EC"/>
                </a:solidFill>
              </a:rPr>
              <a:t>Select available seats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AF67C-BC1F-4400-B413-588A3BD4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339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4D506-C875-4737-AC82-3802A733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43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 i="0">
                <a:solidFill>
                  <a:srgbClr val="D92D32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D92D32"/>
                </a:solidFill>
              </a:defRPr>
            </a:pPr>
            <a:r>
              <a:rPr sz="2250" b="1" i="0">
                <a:solidFill>
                  <a:srgbClr val="D92D3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FD7E8-613B-420D-AC6D-C012CD50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D6B66A"/>
                </a:solidFill>
              </a:defRPr>
            </a:pPr>
            <a:r>
              <a:rPr sz="1200" b="1" i="0">
                <a:solidFill>
                  <a:srgbClr val="D6B66A"/>
                </a:solidFill>
              </a:rPr>
              <a:t>ADD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0DCEE3-2614-4FAB-980E-0B342BCF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19450"/>
            <a:ext cx="1752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6F2EC"/>
                </a:solidFill>
              </a:defRPr>
            </a:pPr>
            <a:r>
              <a:rPr sz="1500" b="1" i="0">
                <a:solidFill>
                  <a:srgbClr val="F6F2EC"/>
                </a:solidFill>
              </a:rPr>
              <a:t>Choose snacks or skip them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EF037-7406-477D-928D-704BC82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339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D90CE8-3736-4C63-905E-11107DE4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43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 i="0">
                <a:solidFill>
                  <a:srgbClr val="D92D32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D92D32"/>
                </a:solidFill>
              </a:defRPr>
            </a:pPr>
            <a:r>
              <a:rPr sz="2250" b="1" i="0">
                <a:solidFill>
                  <a:srgbClr val="D92D32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F8E3AB-8F54-427B-B55E-85527767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00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D6B66A"/>
                </a:solidFill>
              </a:defRPr>
            </a:pPr>
            <a:r>
              <a:rPr sz="1200" b="1" i="0">
                <a:solidFill>
                  <a:srgbClr val="D6B66A"/>
                </a:solidFill>
              </a:rPr>
              <a:t>CONFIRM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C1824E-B54C-42F8-9D4F-69172142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19450"/>
            <a:ext cx="1752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6F2EC"/>
                </a:solidFill>
              </a:defRPr>
            </a:pPr>
            <a:r>
              <a:rPr sz="1500" b="1" i="0">
                <a:solidFill>
                  <a:srgbClr val="F6F2EC"/>
                </a:solidFill>
              </a:rPr>
              <a:t>Complete the demo checkout and view a ticket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73FC9-7209-4606-AEF1-D76A53CD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AAA5A0"/>
                </a:solidFill>
              </a:defRPr>
            </a:pPr>
            <a:r>
              <a:rPr sz="1500" b="0" i="0">
                <a:solidFill>
                  <a:srgbClr val="AAA5A0"/>
                </a:solidFill>
              </a:rPr>
              <a:t>The interface carries the selected film, showtime, seats, and snack total into checkout.</a:t>
            </a:r>
          </a:p>
        </p:txBody>
      </p:sp>
    </p:spTree>
    <p:extLst>
      <p:ext uri="{BB962C8B-B14F-4D97-AF65-F5344CB8AC3E}">
        <p14:creationId xmlns:p14="http://schemas.microsoft.com/office/powerpoint/2010/main" val="15761027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91CCA-FE13-413F-8033-583ACD50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D6B66A"/>
                </a:solidFill>
              </a:defRPr>
            </a:pPr>
            <a:r>
              <a:rPr sz="1050" b="1" i="0">
                <a:solidFill>
                  <a:srgbClr val="D6B66A"/>
                </a:solidFill>
              </a:rPr>
              <a:t>CINEVAULT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DF993-58E0-4ECF-9805-A92F313C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6F2EC"/>
                </a:solidFill>
              </a:defRPr>
            </a:pPr>
            <a:r>
              <a:rPr sz="2700" b="1" i="0">
                <a:solidFill>
                  <a:srgbClr val="F6F2EC"/>
                </a:solidFill>
              </a:rPr>
              <a:t>Film discovery combines a local catalog with OMDb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CB6D3-2746-43AD-A472-2023CE48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BAE22-764F-4216-A932-3050398B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AAA5A0"/>
                </a:solidFill>
              </a:defRPr>
            </a:pPr>
            <a:r>
              <a:rPr sz="900" b="0" i="0">
                <a:solidFill>
                  <a:srgbClr val="AAA5A0"/>
                </a:solidFill>
              </a:rPr>
              <a:t>CineVault  |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CEC28-32C2-44A3-991B-3F21FA68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D6B66A"/>
                </a:solidFill>
              </a:defRPr>
            </a:pPr>
            <a:r>
              <a:rPr sz="1125" b="1" i="0">
                <a:solidFill>
                  <a:srgbClr val="D6B66A"/>
                </a:solidFill>
              </a:rPr>
              <a:t>LOCAL CATALOG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2108B-7879-4D87-AE3F-C0AC28CB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4291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F6F2EC"/>
                </a:solidFill>
              </a:defRPr>
            </a:pPr>
            <a:r>
              <a:rPr sz="1650" b="0" i="0">
                <a:solidFill>
                  <a:srgbClr val="F6F2EC"/>
                </a:solidFill>
              </a:rPr>
              <a:t>A built-in set of movie records supports the home page and browsing when online lookup is unavailable.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85D8B-E071-4844-ACF4-3C8E088A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24050"/>
            <a:ext cx="285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F6970-0BD0-4207-B42A-A5862808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D6B66A"/>
                </a:solidFill>
              </a:defRPr>
            </a:pPr>
            <a:r>
              <a:rPr sz="1125" b="1" i="0">
                <a:solidFill>
                  <a:srgbClr val="D6B66A"/>
                </a:solidFill>
              </a:rPr>
              <a:t>ONLINE 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76270-3A85-4D5F-A9A2-098814A9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F6F2EC"/>
                </a:solidFill>
              </a:defRPr>
            </a:pPr>
            <a:r>
              <a:rPr sz="1650" b="0" i="0">
                <a:solidFill>
                  <a:srgbClr val="F6F2EC"/>
                </a:solidFill>
              </a:rPr>
              <a:t>Debounced title search calls OMDb. Search results can open a detail view with fetched movie metadata.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84326-C3A4-484D-83FD-993AF3D1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814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D6B66A"/>
                </a:solidFill>
              </a:defRPr>
            </a:pPr>
            <a:r>
              <a:rPr sz="1125" b="1" i="0">
                <a:solidFill>
                  <a:srgbClr val="D6B66A"/>
                </a:solidFill>
              </a:rPr>
              <a:t>EXTRA DETAILS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B8187-3124-499A-B3F8-AB50CA32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AAA5A0"/>
                </a:solidFill>
              </a:defRPr>
            </a:pPr>
            <a:r>
              <a:rPr sz="1500" b="0" i="0">
                <a:solidFill>
                  <a:srgbClr val="AAA5A0"/>
                </a:solidFill>
              </a:rPr>
              <a:t>Users can save an OMDb key in localStorage. The app also includes a default key and local search fallbacks.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00BC2-5804-45A2-939E-8DDC9901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AAA5A0"/>
                </a:solidFill>
              </a:defRPr>
            </a:pPr>
            <a:r>
              <a:rPr sz="1425" b="0" i="0">
                <a:solidFill>
                  <a:srgbClr val="AAA5A0"/>
                </a:solidFill>
              </a:rPr>
              <a:t>Genres  ·  Posters  ·  Ratings  ·  Film details</a:t>
            </a:r>
          </a:p>
        </p:txBody>
      </p:sp>
    </p:spTree>
    <p:extLst>
      <p:ext uri="{BB962C8B-B14F-4D97-AF65-F5344CB8AC3E}">
        <p14:creationId xmlns:p14="http://schemas.microsoft.com/office/powerpoint/2010/main" val="4213305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57A14C-B023-4E91-BD02-DD071AFB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D6B66A"/>
                </a:solidFill>
              </a:defRPr>
            </a:pPr>
            <a:r>
              <a:rPr sz="1050" b="1" i="0">
                <a:solidFill>
                  <a:srgbClr val="D6B66A"/>
                </a:solidFill>
              </a:rPr>
              <a:t>CINEVAULT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140A0-286C-4085-8DE4-71EFB135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6F2EC"/>
                </a:solidFill>
              </a:defRPr>
            </a:pPr>
            <a:r>
              <a:rPr sz="2700" b="1" i="0">
                <a:solidFill>
                  <a:srgbClr val="F6F2EC"/>
                </a:solidFill>
              </a:rPr>
              <a:t>A booking includes seats, snacks, and showtime details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D8C10-2062-48EA-9596-EF15A022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6D775-BD17-41B2-81BD-A9B3CA56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AAA5A0"/>
                </a:solidFill>
              </a:defRPr>
            </a:pPr>
            <a:r>
              <a:rPr sz="900" b="0" i="0">
                <a:solidFill>
                  <a:srgbClr val="AAA5A0"/>
                </a:solidFill>
              </a:rPr>
              <a:t>CineVault  |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BFC51-8E77-41A6-A29E-58EEECE4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 i="0">
                <a:solidFill>
                  <a:srgbClr val="D92D32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D92D32"/>
                </a:solidFill>
              </a:defRPr>
            </a:pPr>
            <a:r>
              <a:rPr sz="2250" b="1" i="0">
                <a:solidFill>
                  <a:srgbClr val="D92D3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EEE6E-D599-4932-B8CF-C6FC5F2E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6F2EC"/>
                </a:solidFill>
              </a:defRPr>
            </a:pPr>
            <a:r>
              <a:rPr sz="1875" b="1" i="0">
                <a:solidFill>
                  <a:srgbClr val="F6F2EC"/>
                </a:solidFill>
              </a:rPr>
              <a:t>Movie details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65589-25EA-4FF9-970B-F9B5C606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310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AC35A-D6C1-472D-B100-3C6B0129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 i="0">
                <a:solidFill>
                  <a:srgbClr val="D6D1CB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D6D1CB"/>
                </a:solidFill>
              </a:defRPr>
            </a:pPr>
            <a:r>
              <a:rPr sz="1500" b="0" i="0">
                <a:solidFill>
                  <a:srgbClr val="D6D1CB"/>
                </a:solidFill>
              </a:rPr>
              <a:t>See the plot, cast, director, runtime, rating, base price, and showtimes.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D2D8F-83A0-4ADD-BF4E-6BEA6C21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47875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 i="0">
                <a:solidFill>
                  <a:srgbClr val="D92D32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D92D32"/>
                </a:solidFill>
              </a:defRPr>
            </a:pPr>
            <a:r>
              <a:rPr sz="2250" b="1" i="0">
                <a:solidFill>
                  <a:srgbClr val="D92D3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D39A4-9259-476F-A90C-ECCE69D3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051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6F2EC"/>
                </a:solidFill>
              </a:defRPr>
            </a:pPr>
            <a:r>
              <a:rPr sz="1875" b="1" i="0">
                <a:solidFill>
                  <a:srgbClr val="F6F2EC"/>
                </a:solidFill>
              </a:rPr>
              <a:t>Seat selection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E8B73-53CB-4628-A868-24C03ACA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76600"/>
            <a:ext cx="310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6CB6F-FB2F-4F70-BCC4-4AC83DAB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623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 i="0">
                <a:solidFill>
                  <a:srgbClr val="D6D1CB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D6D1CB"/>
                </a:solidFill>
              </a:defRPr>
            </a:pPr>
            <a:r>
              <a:rPr sz="1500" b="0" i="0">
                <a:solidFill>
                  <a:srgbClr val="D6D1CB"/>
                </a:solidFill>
              </a:rPr>
              <a:t>Choose seats from a theater layout with row-based price multipliers and sample reserved seats.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03C3D-C9D7-4382-8FBE-66B5555C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47875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 i="0">
                <a:solidFill>
                  <a:srgbClr val="D92D32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D92D32"/>
                </a:solidFill>
              </a:defRPr>
            </a:pPr>
            <a:r>
              <a:rPr sz="2250" b="1" i="0">
                <a:solidFill>
                  <a:srgbClr val="D92D3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CFC7C-1880-4906-8E86-9E673167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051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6F2EC"/>
                </a:solidFill>
              </a:defRPr>
            </a:pPr>
            <a:r>
              <a:rPr sz="1875" b="1" i="0">
                <a:solidFill>
                  <a:srgbClr val="F6F2EC"/>
                </a:solidFill>
              </a:rPr>
              <a:t>Concessions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0599EB-0138-4849-B898-462F669A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76600"/>
            <a:ext cx="310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1A5621-8DC5-4581-88F2-CDFDAC39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623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 i="0">
                <a:solidFill>
                  <a:srgbClr val="D6D1CB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D6D1CB"/>
                </a:solidFill>
              </a:defRPr>
            </a:pPr>
            <a:r>
              <a:rPr sz="1500" b="0" i="0">
                <a:solidFill>
                  <a:srgbClr val="D6D1CB"/>
                </a:solidFill>
              </a:rPr>
              <a:t>Adjust snack quantities and carry the subtotal into the checkout summary.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4DDCC-459F-4682-830F-DBFB16BF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AAA5A0"/>
                </a:solidFill>
              </a:defRPr>
            </a:pPr>
            <a:r>
              <a:rPr sz="1350" b="0" i="0">
                <a:solidFill>
                  <a:srgbClr val="AAA5A0"/>
                </a:solidFill>
              </a:rPr>
              <a:t>Pricing uses Indian rupees (₹) and includes a displayed convenience fee at checkout.</a:t>
            </a:r>
          </a:p>
        </p:txBody>
      </p:sp>
    </p:spTree>
    <p:extLst>
      <p:ext uri="{BB962C8B-B14F-4D97-AF65-F5344CB8AC3E}">
        <p14:creationId xmlns:p14="http://schemas.microsoft.com/office/powerpoint/2010/main" val="21165927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EBF61-AF16-4AFB-AF60-97A0CE26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D6B66A"/>
                </a:solidFill>
              </a:defRPr>
            </a:pPr>
            <a:r>
              <a:rPr sz="1050" b="1" i="0">
                <a:solidFill>
                  <a:srgbClr val="D6B66A"/>
                </a:solidFill>
              </a:rPr>
              <a:t>CINEVAULT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B34B2-F68E-4D73-9C4A-AF768FCC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6F2EC"/>
                </a:solidFill>
              </a:defRPr>
            </a:pPr>
            <a:r>
              <a:rPr sz="2700" b="1" i="0">
                <a:solidFill>
                  <a:srgbClr val="F6F2EC"/>
                </a:solidFill>
              </a:rPr>
              <a:t>Checkout creates a local booking record and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FC1CD-4C25-4F1E-91E8-3840425C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96722-2982-4969-9D65-00FA56EB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AAA5A0"/>
                </a:solidFill>
              </a:defRPr>
            </a:pPr>
            <a:r>
              <a:rPr sz="900" b="0" i="0">
                <a:solidFill>
                  <a:srgbClr val="AAA5A0"/>
                </a:solidFill>
              </a:rPr>
              <a:t>CineVault  |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B8825-3796-4D5D-A5B8-1A8A9E22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D6B66A"/>
                </a:solidFill>
              </a:defRPr>
            </a:pPr>
            <a:r>
              <a:rPr sz="1125" b="1" i="0">
                <a:solidFill>
                  <a:srgbClr val="D6B66A"/>
                </a:solidFill>
              </a:rPr>
              <a:t>CHECKOUT SCREEN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36F0F-C542-4314-8B53-7914BDF1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F6F2EC"/>
                </a:solidFill>
              </a:defRPr>
            </a:pPr>
            <a:r>
              <a:rPr sz="1575" b="0" i="0">
                <a:solidFill>
                  <a:srgbClr val="F6F2EC"/>
                </a:solidFill>
              </a:rPr>
              <a:t>Card, UPI, and cash options are presented. Submitting the form waits briefly, then creates a booking 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CE067-C9E7-47DD-BCF6-BC3FE7B8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D6B66A"/>
                </a:solidFill>
              </a:defRPr>
            </a:pPr>
            <a:r>
              <a:rPr sz="1125" b="1" i="0">
                <a:solidFill>
                  <a:srgbClr val="D6B66A"/>
                </a:solidFill>
              </a:rPr>
              <a:t>TICKET 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0AAAC-D93F-4BEC-ACC8-D5C55EB1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F6F2EC"/>
                </a:solidFill>
              </a:defRPr>
            </a:pPr>
            <a:r>
              <a:rPr sz="1575" b="0" i="0">
                <a:solidFill>
                  <a:srgbClr val="F6F2EC"/>
                </a:solidFill>
              </a:rPr>
              <a:t>The ticket shows the film, date, time, seats, venue, amount, and a printable pass 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1E89D-101F-4B06-8B95-0A342E17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7CDA6-6BE3-4BE0-8D8F-F6C0EFA4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D6B66A"/>
                </a:solidFill>
              </a:defRPr>
            </a:pPr>
            <a:r>
              <a:rPr sz="1125" b="1" i="0">
                <a:solidFill>
                  <a:srgbClr val="D6B66A"/>
                </a:solidFill>
              </a:rPr>
              <a:t>SAVED BOOKINGS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EE5F6-F11A-486C-99B3-69AFAFBA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F6F2EC"/>
                </a:solidFill>
              </a:defRPr>
            </a:pPr>
            <a:r>
              <a:rPr sz="1650" b="0" i="0">
                <a:solidFill>
                  <a:srgbClr val="F6F2EC"/>
                </a:solidFill>
              </a:rPr>
              <a:t>Confirmed records persist in this browser with localStorage and appear in “My Bookings.”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18B1A-82A3-49B3-946E-580BC6D9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AAA5A0"/>
                </a:solidFill>
              </a:defRPr>
            </a:pPr>
            <a:r>
              <a:rPr sz="1350" b="0" i="0">
                <a:solidFill>
                  <a:srgbClr val="AAA5A0"/>
                </a:solidFill>
              </a:rPr>
              <a:t>The displayed QR pattern is decorative. No payment authorization, ticket validation, or server-side reservation occurs.</a:t>
            </a:r>
          </a:p>
        </p:txBody>
      </p:sp>
    </p:spTree>
    <p:extLst>
      <p:ext uri="{BB962C8B-B14F-4D97-AF65-F5344CB8AC3E}">
        <p14:creationId xmlns:p14="http://schemas.microsoft.com/office/powerpoint/2010/main" val="15080456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C46B7B-F60C-4537-9867-3119A43C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D6B66A"/>
                </a:solidFill>
              </a:defRPr>
            </a:pPr>
            <a:r>
              <a:rPr sz="1050" b="1" i="0">
                <a:solidFill>
                  <a:srgbClr val="D6B66A"/>
                </a:solidFill>
              </a:rPr>
              <a:t>CINEVAULT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0CE5A-CAA5-4B40-8168-CF4418ED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6F2EC"/>
                </a:solidFill>
              </a:defRPr>
            </a:pPr>
            <a:r>
              <a:rPr sz="2700" b="1" i="0">
                <a:solidFill>
                  <a:srgbClr val="F6F2EC"/>
                </a:solidFill>
              </a:rPr>
              <a:t>The codebase separates screens, data, and movie lookup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D1E68-2041-431D-9640-FDAEE938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B4637-2820-4FFA-AD61-BC6DD818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AAA5A0"/>
                </a:solidFill>
              </a:defRPr>
            </a:pPr>
            <a:r>
              <a:rPr sz="900" b="0" i="0">
                <a:solidFill>
                  <a:srgbClr val="AAA5A0"/>
                </a:solidFill>
              </a:rPr>
              <a:t>CineVault  |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EEE4B-FBAB-491B-A12D-C080C868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D6B66A"/>
                </a:solidFill>
              </a:defRPr>
            </a:pPr>
            <a:r>
              <a:rPr sz="1425" b="1" i="0">
                <a:solidFill>
                  <a:srgbClr val="D6B66A"/>
                </a:solidFill>
              </a:rPr>
              <a:t>src/App.jsx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3EC45-3C09-49E3-8346-10F0B905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85950"/>
            <a:ext cx="721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 i="0">
                <a:solidFill>
                  <a:srgbClr val="D2CDC7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D2CDC7"/>
                </a:solidFill>
              </a:defRPr>
            </a:pPr>
            <a:r>
              <a:rPr sz="1350" b="0" i="0">
                <a:solidFill>
                  <a:srgbClr val="D2CDC7"/>
                </a:solidFill>
              </a:rPr>
              <a:t>App state, navigation, search, and booking orchestration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F597A-7929-46E4-8B94-D85A6369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CA187-A151-46B2-9F9B-5F654176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6F2EC"/>
                </a:solidFill>
              </a:defRPr>
            </a:pPr>
            <a:r>
              <a:rPr sz="1425" b="1" i="0">
                <a:solidFill>
                  <a:srgbClr val="F6F2EC"/>
                </a:solidFill>
              </a:rPr>
              <a:t>src/components/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0F0E6-5F57-4C28-A552-C87C8E58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38425"/>
            <a:ext cx="721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 i="0">
                <a:solidFill>
                  <a:srgbClr val="D2CDC7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D2CDC7"/>
                </a:solidFill>
              </a:defRPr>
            </a:pPr>
            <a:r>
              <a:rPr sz="1350" b="0" i="0">
                <a:solidFill>
                  <a:srgbClr val="D2CDC7"/>
                </a:solidFill>
              </a:rPr>
              <a:t>Navbar, movie views, seat/snack pickers, payment, ticket, and modals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34678-8982-4CD2-8570-C8A550CC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DF3C8-CB36-4462-AE5E-3FE928C8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6F2EC"/>
                </a:solidFill>
              </a:defRPr>
            </a:pPr>
            <a:r>
              <a:rPr sz="1425" b="1" i="0">
                <a:solidFill>
                  <a:srgbClr val="F6F2EC"/>
                </a:solidFill>
              </a:rPr>
              <a:t>src/data/initialMovies.js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E69A6-9F3F-4A1B-B854-784384BD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90900"/>
            <a:ext cx="721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 i="0">
                <a:solidFill>
                  <a:srgbClr val="D2CDC7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D2CDC7"/>
                </a:solidFill>
              </a:defRPr>
            </a:pPr>
            <a:r>
              <a:rPr sz="1350" b="0" i="0">
                <a:solidFill>
                  <a:srgbClr val="D2CDC7"/>
                </a:solidFill>
              </a:rPr>
              <a:t>Sample movie catalog, showtimes, seating, and snacks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CBEBA-5373-4206-B2F3-D4399B33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6FC0C-1367-4CA7-B98A-7FE37F65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6F2EC"/>
                </a:solidFill>
              </a:defRPr>
            </a:pPr>
            <a:r>
              <a:rPr sz="1425" b="1" i="0">
                <a:solidFill>
                  <a:srgbClr val="F6F2EC"/>
                </a:solidFill>
              </a:rPr>
              <a:t>src/services/movieApi.js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D47B8-9959-434E-AAE8-06CB8295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43375"/>
            <a:ext cx="721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 i="0">
                <a:solidFill>
                  <a:srgbClr val="D2CDC7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D2CDC7"/>
                </a:solidFill>
              </a:defRPr>
            </a:pPr>
            <a:r>
              <a:rPr sz="1350" b="0" i="0">
                <a:solidFill>
                  <a:srgbClr val="D2CDC7"/>
                </a:solidFill>
              </a:rPr>
              <a:t>OMDb search/detail requests and local fallback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66C02-1EB2-42A0-860B-AE95F44C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BC7BFA-55F4-480C-BC5B-A656FFB7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6F2EC"/>
                </a:solidFill>
              </a:defRPr>
            </a:pPr>
            <a:r>
              <a:rPr sz="1425" b="1" i="0">
                <a:solidFill>
                  <a:srgbClr val="F6F2EC"/>
                </a:solidFill>
              </a:rPr>
              <a:t>src/index.css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877D53-C5A0-45F5-AFA5-F99AFEE6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95850"/>
            <a:ext cx="721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 i="0">
                <a:solidFill>
                  <a:srgbClr val="D2CDC7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D2CDC7"/>
                </a:solidFill>
              </a:defRPr>
            </a:pPr>
            <a:r>
              <a:rPr sz="1350" b="0" i="0">
                <a:solidFill>
                  <a:srgbClr val="D2CDC7"/>
                </a:solidFill>
              </a:rPr>
              <a:t>Responsive styling and the dark cinema visual theme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0B576-F10C-4D29-A168-2590DAB8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AAA5A0"/>
                </a:solidFill>
              </a:defRPr>
            </a:pPr>
            <a:r>
              <a:rPr sz="1275" b="0" i="0">
                <a:solidFill>
                  <a:srgbClr val="AAA5A0"/>
                </a:solidFill>
              </a:rPr>
              <a:t>Runtime: React 19 with Vite. No server or database is configured.</a:t>
            </a:r>
          </a:p>
        </p:txBody>
      </p:sp>
    </p:spTree>
    <p:extLst>
      <p:ext uri="{BB962C8B-B14F-4D97-AF65-F5344CB8AC3E}">
        <p14:creationId xmlns:p14="http://schemas.microsoft.com/office/powerpoint/2010/main" val="15778974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1427A-C25A-4B7F-8F1B-9B1426CD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D6B66A"/>
                </a:solidFill>
              </a:defRPr>
            </a:pPr>
            <a:r>
              <a:rPr sz="1050" b="1" i="0">
                <a:solidFill>
                  <a:srgbClr val="D6B66A"/>
                </a:solidFill>
              </a:rPr>
              <a:t>CINEVAULT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33F7B-F3CE-409A-859B-6917D40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6F2EC"/>
                </a:solidFill>
              </a:defRPr>
            </a:pPr>
            <a:r>
              <a:rPr sz="2700" b="1" i="0">
                <a:solidFill>
                  <a:srgbClr val="F6F2EC"/>
                </a:solidFill>
              </a:rPr>
              <a:t>Production ticketing needs services beyond this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B9F5F-7163-4027-AC5D-096B12CF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2408B-0A03-4342-9612-8268E99B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AAA5A0"/>
                </a:solidFill>
              </a:defRPr>
            </a:pPr>
            <a:r>
              <a:rPr sz="900" b="0" i="0">
                <a:solidFill>
                  <a:srgbClr val="AAA5A0"/>
                </a:solidFill>
              </a:rPr>
              <a:t>CineVault  |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B7BA7-90A2-4095-AA02-CE2DE1C2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D6B66A"/>
                </a:solidFill>
              </a:defRPr>
            </a:pPr>
            <a:r>
              <a:rPr sz="1125" b="1" i="0">
                <a:solidFill>
                  <a:srgbClr val="D6B66A"/>
                </a:solidFill>
              </a:rPr>
              <a:t>IN THE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D89A5-4110-451E-B9B2-9FD7B7B4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F6F2EC"/>
                </a:solidFill>
              </a:defRPr>
            </a:pPr>
            <a:r>
              <a:rPr sz="1575" b="0" i="0">
                <a:solidFill>
                  <a:srgbClr val="F6F2EC"/>
                </a:solidFill>
              </a:rPr>
              <a:t>Movie browsing and OMDb lookup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518D0-14BB-4BC6-92B4-A1C4F0F0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F6F2EC"/>
                </a:solidFill>
              </a:defRPr>
            </a:pPr>
            <a:r>
              <a:rPr sz="1575" b="0" i="0">
                <a:solidFill>
                  <a:srgbClr val="F6F2EC"/>
                </a:solidFill>
              </a:rPr>
              <a:t>Guided seat and snack selection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02F89-33CC-45EB-8EC9-F3672930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F6F2EC"/>
                </a:solidFill>
              </a:defRPr>
            </a:pPr>
            <a:r>
              <a:rPr sz="1575" b="0" i="0">
                <a:solidFill>
                  <a:srgbClr val="F6F2EC"/>
                </a:solidFill>
              </a:rPr>
              <a:t>Simulated checkout and printable ticket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08EFC-A9BE-4A86-AC40-88658DDC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62150"/>
            <a:ext cx="2857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56986-EBCA-4F98-ADFC-668D6523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621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D6B66A"/>
                </a:solidFill>
              </a:defRPr>
            </a:pPr>
            <a:r>
              <a:rPr sz="1125" b="1" i="0">
                <a:solidFill>
                  <a:srgbClr val="D6B66A"/>
                </a:solidFill>
              </a:rPr>
              <a:t>TO SUPPORT REAL BOOKINGS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52B96-3D17-4777-A966-0A018E51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F6F2EC"/>
                </a:solidFill>
              </a:defRPr>
            </a:pPr>
            <a:r>
              <a:rPr sz="1500" b="0" i="0">
                <a:solidFill>
                  <a:srgbClr val="F6F2EC"/>
                </a:solidFill>
              </a:rPr>
              <a:t>Server-side seat inventory and reservation locking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477BC3-6148-4DFE-B67F-6A4944E9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3847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F6F2EC"/>
                </a:solidFill>
              </a:defRPr>
            </a:pPr>
            <a:r>
              <a:rPr sz="1500" b="0" i="0">
                <a:solidFill>
                  <a:srgbClr val="F6F2EC"/>
                </a:solidFill>
              </a:rPr>
              <a:t>Payment provider integration and secure handling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EAFE2-0F2D-4E5B-B166-E5628483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F6F2EC"/>
                </a:solidFill>
              </a:defRPr>
            </a:pPr>
            <a:r>
              <a:rPr sz="1500" b="0" i="0">
                <a:solidFill>
                  <a:srgbClr val="F6F2EC"/>
                </a:solidFill>
              </a:rPr>
              <a:t>Persistent booking service and scannable ticket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19AE0-F568-40D9-ABE9-B35507A3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F6F2EC"/>
                </a:solidFill>
              </a:defRPr>
            </a:pPr>
            <a:r>
              <a:rPr sz="1725" b="1" i="0">
                <a:solidFill>
                  <a:srgbClr val="F6F2EC"/>
                </a:solidFill>
              </a:rPr>
              <a:t>CineVault is a strong front-end prototype for demonstrating the cinema booking journey.</a:t>
            </a:r>
          </a:p>
        </p:txBody>
      </p:sp>
    </p:spTree>
    <p:extLst>
      <p:ext uri="{BB962C8B-B14F-4D97-AF65-F5344CB8AC3E}">
        <p14:creationId xmlns:p14="http://schemas.microsoft.com/office/powerpoint/2010/main" val="9581231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2026-10-13T16:22:30.8250000Z</dcterms:created>
  <dcterms:modified xsi:type="dcterms:W3CDTF">2026-10-13T16:22:30.8260000Z</dcterms:modified>
</coreProperties>
</file>